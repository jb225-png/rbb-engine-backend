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2" r:id="rId2"/>
    <p:sldId id="263" r:id="rId3"/>
    <p:sldId id="264" r:id="rId4"/>
  </p:sldIdLst>
  <p:sldSz cx="7772400" cy="10058400"/>
  <p:notesSz cx="6858000" cy="9144000"/>
  <p:embeddedFontLst>
    <p:embeddedFont>
      <p:font typeface="Open Sans" pitchFamily="2"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Montserrat" pitchFamily="2"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p:scale>
          <a:sx n="100" d="100"/>
          <a:sy n="100" d="100"/>
        </p:scale>
        <p:origin x="76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ading_Pass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baseline="0">
                <a:solidFill>
                  <a:schemeClr val="tx2"/>
                </a:solidFill>
              </a:defRPr>
            </a:lvl1pPr>
          </a:lstStyle>
          <a:p>
            <a:r>
              <a:rPr lang="en-US" dirty="0" smtClean="0"/>
              <a:t>{{ANCHOR_READING_PASSAGE_HEADER}}</a:t>
            </a:r>
            <a:endParaRPr lang="en-US" dirty="0"/>
          </a:p>
        </p:txBody>
      </p:sp>
      <p:sp>
        <p:nvSpPr>
          <p:cNvPr id="8" name="Text Placeholder 7"/>
          <p:cNvSpPr>
            <a:spLocks noGrp="1"/>
          </p:cNvSpPr>
          <p:nvPr>
            <p:ph type="body" sz="quarter" idx="10" hasCustomPrompt="1"/>
          </p:nvPr>
        </p:nvSpPr>
        <p:spPr>
          <a:xfrm>
            <a:off x="676894" y="3475249"/>
            <a:ext cx="6417342" cy="491111"/>
          </a:xfrm>
        </p:spPr>
        <p:txBody>
          <a:bodyPr/>
          <a:lstStyle>
            <a:lvl1pPr algn="ctr">
              <a:defRPr b="1"/>
            </a:lvl1pPr>
          </a:lstStyle>
          <a:p>
            <a:pPr lvl="0"/>
            <a:r>
              <a:rPr lang="en-US" dirty="0" smtClean="0"/>
              <a:t>{{ANCHOR_READING_PASSAGE_STORY_TITLE}}</a:t>
            </a:r>
          </a:p>
          <a:p>
            <a:pPr lvl="0"/>
            <a:endParaRPr lang="en-US" dirty="0" smtClean="0"/>
          </a:p>
        </p:txBody>
      </p:sp>
      <p:sp>
        <p:nvSpPr>
          <p:cNvPr id="10" name="Text Placeholder 9"/>
          <p:cNvSpPr>
            <a:spLocks noGrp="1"/>
          </p:cNvSpPr>
          <p:nvPr>
            <p:ph type="body" sz="quarter" idx="11" hasCustomPrompt="1"/>
          </p:nvPr>
        </p:nvSpPr>
        <p:spPr>
          <a:xfrm>
            <a:off x="685165" y="1283901"/>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{{ANCHOR_READING_PASSAGE_GRADE_INFO}}</a:t>
            </a:r>
          </a:p>
        </p:txBody>
      </p:sp>
      <p:sp>
        <p:nvSpPr>
          <p:cNvPr id="12" name="Text Placeholder 11"/>
          <p:cNvSpPr>
            <a:spLocks noGrp="1"/>
          </p:cNvSpPr>
          <p:nvPr>
            <p:ph type="body" sz="quarter" idx="12" hasCustomPrompt="1"/>
          </p:nvPr>
        </p:nvSpPr>
        <p:spPr>
          <a:xfrm>
            <a:off x="685165" y="2028918"/>
            <a:ext cx="6400800" cy="626309"/>
          </a:xfrm>
        </p:spPr>
        <p:txBody>
          <a:bodyPr/>
          <a:lstStyle>
            <a:lvl1pPr>
              <a:defRPr b="0" baseline="0"/>
            </a:lvl1pPr>
          </a:lstStyle>
          <a:p>
            <a:pPr lvl="0"/>
            <a:r>
              <a:rPr lang="en-US" dirty="0" smtClean="0"/>
              <a:t>Objectives: {{ANCHOR_READING_PASSAGE_OBJECTIVES}}</a:t>
            </a:r>
            <a:endParaRPr lang="en-US" dirty="0"/>
          </a:p>
        </p:txBody>
      </p:sp>
      <p:sp>
        <p:nvSpPr>
          <p:cNvPr id="14" name="Text Placeholder 13"/>
          <p:cNvSpPr>
            <a:spLocks noGrp="1"/>
          </p:cNvSpPr>
          <p:nvPr>
            <p:ph type="body" sz="quarter" idx="13" hasCustomPrompt="1"/>
          </p:nvPr>
        </p:nvSpPr>
        <p:spPr>
          <a:xfrm>
            <a:off x="685165" y="2721691"/>
            <a:ext cx="6400800" cy="680118"/>
          </a:xfrm>
        </p:spPr>
        <p:txBody>
          <a:bodyPr/>
          <a:lstStyle>
            <a:lvl1pPr>
              <a:defRPr/>
            </a:lvl1pPr>
          </a:lstStyle>
          <a:p>
            <a:pPr lvl="0"/>
            <a:r>
              <a:rPr lang="en-US" dirty="0" smtClean="0"/>
              <a:t>Directions: {{ANCHOR_READING_PASSAGE_DIRECTIONS}}</a:t>
            </a:r>
            <a:endParaRPr lang="en-US" dirty="0"/>
          </a:p>
        </p:txBody>
      </p:sp>
      <p:sp>
        <p:nvSpPr>
          <p:cNvPr id="19" name="Text Placeholder 18"/>
          <p:cNvSpPr>
            <a:spLocks noGrp="1"/>
          </p:cNvSpPr>
          <p:nvPr>
            <p:ph type="body" sz="quarter" idx="14" hasCustomPrompt="1"/>
          </p:nvPr>
        </p:nvSpPr>
        <p:spPr>
          <a:xfrm>
            <a:off x="676894" y="4575519"/>
            <a:ext cx="6417342" cy="4758485"/>
          </a:xfrm>
        </p:spPr>
        <p:txBody>
          <a:bodyPr/>
          <a:lstStyle>
            <a:lvl1pPr>
              <a:defRPr/>
            </a:lvl1pPr>
          </a:lstStyle>
          <a:p>
            <a:pPr lvl="0"/>
            <a:r>
              <a:rPr lang="en-US" dirty="0" smtClean="0"/>
              <a:t>{{ANCHOR_READING_PASSAGE_CONTENT}}</a:t>
            </a:r>
            <a:endParaRPr lang="en-US" dirty="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068236"/>
            <a:ext cx="6417342" cy="283135"/>
          </a:xfrm>
        </p:spPr>
        <p:txBody>
          <a:bodyPr/>
          <a:lstStyle>
            <a:lvl1pPr algn="ctr">
              <a:defRPr b="0" i="0"/>
            </a:lvl1pPr>
          </a:lstStyle>
          <a:p>
            <a:pPr lvl="0"/>
            <a:r>
              <a:rPr lang="en-US" dirty="0" smtClean="0"/>
              <a:t>{{ANCHOR_READING_PASSAGE_SUBTITLE}}</a:t>
            </a:r>
          </a:p>
          <a:p>
            <a:pPr lvl="0"/>
            <a:endParaRPr lang="en-US" dirty="0" smtClean="0"/>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3" name="Text Placeholder 9"/>
          <p:cNvSpPr>
            <a:spLocks noGrp="1"/>
          </p:cNvSpPr>
          <p:nvPr>
            <p:ph type="body" sz="quarter" idx="18" hasCustomPrompt="1"/>
          </p:nvPr>
        </p:nvSpPr>
        <p:spPr>
          <a:xfrm>
            <a:off x="682815" y="1601377"/>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{{ANCHOR_READING_PASSAGE_STANDARD_INFO}}</a:t>
            </a:r>
          </a:p>
        </p:txBody>
      </p:sp>
    </p:spTree>
    <p:extLst>
      <p:ext uri="{BB962C8B-B14F-4D97-AF65-F5344CB8AC3E}">
        <p14:creationId xmlns:p14="http://schemas.microsoft.com/office/powerpoint/2010/main" val="151574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137042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018918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4"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165" y="804543"/>
            <a:ext cx="6409071" cy="369332"/>
          </a:xfrm>
          <a:prstGeom prst="rect">
            <a:avLst/>
          </a:prstGeom>
          <a:noFill/>
        </p:spPr>
        <p:txBody>
          <a:bodyPr wrap="square" rtlCol="0">
            <a:spAutoFit/>
          </a:bodyPr>
          <a:lstStyle/>
          <a:p>
            <a:r>
              <a:rPr lang="en-US" sz="1800" b="1" dirty="0">
                <a:solidFill>
                  <a:schemeClr val="accent5">
                    <a:lumMod val="50000"/>
                  </a:schemeClr>
                </a:solidFill>
                <a:latin typeface="Montserrat" pitchFamily="2" charset="0"/>
              </a:rPr>
              <a:t>The Last Lighthouse Keeper</a:t>
            </a:r>
          </a:p>
        </p:txBody>
      </p:sp>
      <p:sp>
        <p:nvSpPr>
          <p:cNvPr id="3" name="TextBox 2"/>
          <p:cNvSpPr txBox="1"/>
          <p:nvPr/>
        </p:nvSpPr>
        <p:spPr>
          <a:xfrm>
            <a:off x="676893" y="1209571"/>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6TH GRADE RL.6.10 LITERATURE RANGE &amp; COMPLEXITY BUNDLE</a:t>
            </a:r>
          </a:p>
        </p:txBody>
      </p:sp>
      <p:sp>
        <p:nvSpPr>
          <p:cNvPr id="20" name="TextBox 19"/>
          <p:cNvSpPr txBox="1"/>
          <p:nvPr/>
        </p:nvSpPr>
        <p:spPr>
          <a:xfrm>
            <a:off x="676892" y="1563794"/>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Read Complex Texts | Analyze Story Elements | Build Comprehension</a:t>
            </a:r>
          </a:p>
        </p:txBody>
      </p:sp>
      <p:sp>
        <p:nvSpPr>
          <p:cNvPr id="4" name="TextBox 3"/>
          <p:cNvSpPr txBox="1"/>
          <p:nvPr/>
        </p:nvSpPr>
        <p:spPr>
          <a:xfrm>
            <a:off x="685164" y="2028918"/>
            <a:ext cx="6409071"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Read and comprehend literature at the grades 6–8 text complexity band</a:t>
            </a:r>
          </a:p>
          <a:p>
            <a:r>
              <a:rPr lang="en-US" sz="1200" dirty="0" b="0">
                <a:latin typeface="Open Sans" pitchFamily="2" charset="0"/>
                <a:ea typeface="Open Sans" pitchFamily="2" charset="0"/>
                <a:cs typeface="Open Sans" pitchFamily="2" charset="0"/>
              </a:rPr>
              <a:t>• Analyze character, setting, and theme in a complex literary text</a:t>
            </a:r>
          </a:p>
        </p:txBody>
      </p:sp>
      <p:sp>
        <p:nvSpPr>
          <p:cNvPr id="22" name="TextBox 21"/>
          <p:cNvSpPr txBox="1"/>
          <p:nvPr/>
        </p:nvSpPr>
        <p:spPr>
          <a:xfrm>
            <a:off x="685164" y="2748689"/>
            <a:ext cx="6398449"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Read the passage carefully. Think about the characters, setting, and theme as you read, then discuss the questions.</a:t>
            </a:r>
          </a:p>
        </p:txBody>
      </p:sp>
      <p:sp>
        <p:nvSpPr>
          <p:cNvPr id="23" name="TextBox 22"/>
          <p:cNvSpPr txBox="1"/>
          <p:nvPr/>
        </p:nvSpPr>
        <p:spPr>
          <a:xfrm>
            <a:off x="685165" y="3517041"/>
            <a:ext cx="6398448"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The Last Lighthouse Keeper</a:t>
            </a:r>
          </a:p>
        </p:txBody>
      </p:sp>
      <p:sp>
        <p:nvSpPr>
          <p:cNvPr id="24" name="TextBox 23"/>
          <p:cNvSpPr txBox="1"/>
          <p:nvPr/>
        </p:nvSpPr>
        <p:spPr>
          <a:xfrm>
            <a:off x="685163" y="4013151"/>
            <a:ext cx="6398449" cy="27699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Responsibility and change can arrive even when we resist them.</a:t>
            </a:r>
          </a:p>
        </p:txBody>
      </p:sp>
      <p:sp>
        <p:nvSpPr>
          <p:cNvPr id="25" name="TextBox 24"/>
          <p:cNvSpPr txBox="1"/>
          <p:nvPr/>
        </p:nvSpPr>
        <p:spPr>
          <a:xfrm>
            <a:off x="676892" y="4659898"/>
            <a:ext cx="6406719" cy="470898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About This Passage:</a:t>
            </a:r>
          </a:p>
          <a:p>
            <a:r>
              <a:rPr lang="en-US" sz="1200" dirty="0" b="0">
                <a:latin typeface="Open Sans" pitchFamily="2" charset="0"/>
                <a:ea typeface="Open Sans" pitchFamily="2" charset="0"/>
                <a:cs typeface="Open Sans" pitchFamily="2" charset="0"/>
              </a:rPr>
              <a:t>This story is set on a remote island lighthouse in the early 1900s, a time when lighthouse keepers lived in isolation to protect passing ships. As technology began to change, keepers faced the loss of their life's purpose. Consider how the main character responds to this change.</a:t>
            </a:r>
          </a:p>
          <a:p/>
          <a:p>
            <a:r>
              <a:rPr lang="en-US" sz="1200" dirty="0" b="1">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Vigil: a period of staying awake to keep watch or guard something</a:t>
            </a:r>
          </a:p>
          <a:p>
            <a:r>
              <a:rPr lang="en-US" sz="1200" dirty="0" b="0">
                <a:latin typeface="Open Sans" pitchFamily="2" charset="0"/>
                <a:ea typeface="Open Sans" pitchFamily="2" charset="0"/>
                <a:cs typeface="Open Sans" pitchFamily="2" charset="0"/>
              </a:rPr>
              <a:t>• Isolation: the state of being separated from others; loneliness</a:t>
            </a:r>
          </a:p>
          <a:p>
            <a:r>
              <a:rPr lang="en-US" sz="1200" dirty="0" b="0">
                <a:latin typeface="Open Sans" pitchFamily="2" charset="0"/>
                <a:ea typeface="Open Sans" pitchFamily="2" charset="0"/>
                <a:cs typeface="Open Sans" pitchFamily="2" charset="0"/>
              </a:rPr>
              <a:t>• Beacon: a guiding light or signal, especially one used to warn or direct</a:t>
            </a:r>
          </a:p>
          <a:p>
            <a:r>
              <a:rPr lang="en-US" sz="1200" dirty="0" b="0">
                <a:latin typeface="Open Sans" pitchFamily="2" charset="0"/>
                <a:ea typeface="Open Sans" pitchFamily="2" charset="0"/>
                <a:cs typeface="Open Sans" pitchFamily="2" charset="0"/>
              </a:rPr>
              <a:t>• Reluctant: unwilling or hesitant to do something</a:t>
            </a:r>
          </a:p>
          <a:p>
            <a:r>
              <a:rPr lang="en-US" sz="1200" dirty="0" b="0">
                <a:latin typeface="Open Sans" pitchFamily="2" charset="0"/>
                <a:ea typeface="Open Sans" pitchFamily="2" charset="0"/>
                <a:cs typeface="Open Sans" pitchFamily="2" charset="0"/>
              </a:rPr>
              <a:t>• Persistent: continuing firmly despite difficulty or opposition</a:t>
            </a:r>
          </a:p>
          <a:p>
            <a:r>
              <a:rPr lang="en-US" sz="1200" dirty="0" b="0">
                <a:latin typeface="Open Sans" pitchFamily="2" charset="0"/>
                <a:ea typeface="Open Sans" pitchFamily="2" charset="0"/>
                <a:cs typeface="Open Sans" pitchFamily="2" charset="0"/>
              </a:rPr>
              <a:t>• Automated: operated by machines rather than people</a:t>
            </a:r>
          </a:p>
          <a:p>
            <a:r>
              <a:rPr lang="en-US" sz="1200" dirty="0" b="0">
                <a:latin typeface="Open Sans" pitchFamily="2" charset="0"/>
                <a:ea typeface="Open Sans" pitchFamily="2" charset="0"/>
                <a:cs typeface="Open Sans" pitchFamily="2" charset="0"/>
              </a:rPr>
              <a:t>• Legacy: something handed down from one generation to the next</a:t>
            </a:r>
          </a:p>
        </p:txBody>
      </p:sp>
      <p:sp>
        <p:nvSpPr>
          <p:cNvPr id="26" name="TextBox 25"/>
          <p:cNvSpPr txBox="1"/>
          <p:nvPr/>
        </p:nvSpPr>
        <p:spPr>
          <a:xfrm>
            <a:off x="190730" y="214565"/>
            <a:ext cx="4557540"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4910904" y="214565"/>
            <a:ext cx="2609917"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3219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The Last Lighthouse Keeper</a:t>
            </a:r>
          </a:p>
          <a:p/>
          <a:p>
            <a:r>
              <a:rPr lang="en-US" sz="1200" dirty="0" b="0">
                <a:latin typeface="Open Sans" pitchFamily="2" charset="0"/>
                <a:ea typeface="Open Sans" pitchFamily="2" charset="0"/>
                <a:cs typeface="Open Sans" pitchFamily="2" charset="0"/>
              </a:rPr>
              <a:t>For thirty-one years, Elias Marsh had climbed the same 112 steps every evening at dusk. He knew each worn stone by feel, each creak of the iron railing by sound. The lighthouse on Cormorant Island was not just his job — it was his world.</a:t>
            </a:r>
          </a:p>
          <a:p/>
          <a:p>
            <a:r>
              <a:rPr lang="en-US" sz="1200" dirty="0" b="0">
                <a:latin typeface="Open Sans" pitchFamily="2" charset="0"/>
                <a:ea typeface="Open Sans" pitchFamily="2" charset="0"/>
                <a:cs typeface="Open Sans" pitchFamily="2" charset="0"/>
              </a:rPr>
              <a:t>Elias had taken the position after his father passed it down to him, just as his grandfather had passed it to his father before that. Three generations of Marsh men had kept the great lamp burning, guiding fishermen and cargo ships safely through the rocky strait. Elias never questioned the arrangement. Some things, he believed, were simply meant to continue.</a:t>
            </a:r>
          </a:p>
          <a:p/>
          <a:p>
            <a:r>
              <a:rPr lang="en-US" sz="1200" dirty="0" b="0">
                <a:latin typeface="Open Sans" pitchFamily="2" charset="0"/>
                <a:ea typeface="Open Sans" pitchFamily="2" charset="0"/>
                <a:cs typeface="Open Sans" pitchFamily="2" charset="0"/>
              </a:rPr>
              <a:t>So when the letter arrived in October, Elias read it twice before setting it on the kitchen table. The Maritime Authority was automating the lighthouse. A new electric system would be installed by spring. His services, the letter said with formal politeness, would no longer be required.</a:t>
            </a:r>
          </a:p>
          <a:p/>
          <a:p>
            <a:r>
              <a:rPr lang="en-US" sz="1200" dirty="0" b="0">
                <a:latin typeface="Open Sans" pitchFamily="2" charset="0"/>
                <a:ea typeface="Open Sans" pitchFamily="2" charset="0"/>
                <a:cs typeface="Open Sans" pitchFamily="2" charset="0"/>
              </a:rPr>
              <a:t>Elias did not respond for two weeks. He kept his vigil as always — trimming the wick, polishing the lens, logging the weather in his careful handwriting. He told himself the letter was a mistake, that someone in an office far away had made an error.</a:t>
            </a:r>
          </a:p>
          <a:p/>
          <a:p>
            <a:r>
              <a:rPr lang="en-US" sz="1200" dirty="0" b="0">
                <a:latin typeface="Open Sans" pitchFamily="2" charset="0"/>
                <a:ea typeface="Open Sans" pitchFamily="2" charset="0"/>
                <a:cs typeface="Open Sans" pitchFamily="2" charset="0"/>
              </a:rPr>
              <a:t>But the engineers arrived in March, just as promised. There were three of them, young and efficient, carrying equipment Elias had never seen. He watched from the doorway as they worked, his arms crossed, his expression unreadable.</a:t>
            </a:r>
          </a:p>
          <a:p/>
          <a:p>
            <a:r>
              <a:rPr lang="en-US" sz="1200" dirty="0" b="0">
                <a:latin typeface="Open Sans" pitchFamily="2" charset="0"/>
                <a:ea typeface="Open Sans" pitchFamily="2" charset="0"/>
                <a:cs typeface="Open Sans" pitchFamily="2" charset="0"/>
              </a:rPr>
              <a:t>"You've kept this lens in remarkable condition," one of the engineers said, pausing to examine the glass. "Most keepers we've replaced weren't half as careful."</a:t>
            </a:r>
          </a:p>
          <a:p/>
          <a:p>
            <a:r>
              <a:rPr lang="en-US" sz="1200" dirty="0" b="0">
                <a:latin typeface="Open Sans" pitchFamily="2" charset="0"/>
                <a:ea typeface="Open Sans" pitchFamily="2" charset="0"/>
                <a:cs typeface="Open Sans" pitchFamily="2" charset="0"/>
              </a:rPr>
              <a:t>Elias said nothing at first. Then, slowly, he began answering their questions — about the tides, the fog patterns, the rocks that sat just below the surface east of the channel. By the second day, he was standing beside them, pointing out details no map could show.</a:t>
            </a:r>
          </a:p>
          <a:p/>
        </p:txBody>
      </p:sp>
    </p:spTree>
    <p:extLst>
      <p:ext uri="{BB962C8B-B14F-4D97-AF65-F5344CB8AC3E}">
        <p14:creationId xmlns:p14="http://schemas.microsoft.com/office/powerpoint/2010/main" val="120183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1. How does Elias respond when he first receives the letter about automation, and what does this reveal about his character?</a:t>
            </a:r>
          </a:p>
          <a:p>
            <a:r>
              <a:rPr lang="en-US" sz="1200" dirty="0" b="0">
                <a:latin typeface="Open Sans" pitchFamily="2" charset="0"/>
                <a:ea typeface="Open Sans" pitchFamily="2" charset="0"/>
                <a:cs typeface="Open Sans" pitchFamily="2" charset="0"/>
              </a:rPr>
              <a:t>2. What causes Elias to change his attitude toward the engineers during their visit? Use details from the passage to support your answer.</a:t>
            </a:r>
          </a:p>
          <a:p>
            <a:r>
              <a:rPr lang="en-US" sz="1200" dirty="0" b="0">
                <a:latin typeface="Open Sans" pitchFamily="2" charset="0"/>
                <a:ea typeface="Open Sans" pitchFamily="2" charset="0"/>
                <a:cs typeface="Open Sans" pitchFamily="2" charset="0"/>
              </a:rPr>
              <a:t>3. How does the author use the 112 steps as a symbol throughout the story? What might they represent?</a:t>
            </a:r>
          </a:p>
          <a:p>
            <a:r>
              <a:rPr lang="en-US" sz="1200" dirty="0" b="0">
                <a:latin typeface="Open Sans" pitchFamily="2" charset="0"/>
                <a:ea typeface="Open Sans" pitchFamily="2" charset="0"/>
                <a:cs typeface="Open Sans" pitchFamily="2" charset="0"/>
              </a:rPr>
              <a:t>4. What is the central theme of this passage? Explain how specific events in the story support that theme.</a:t>
            </a:r>
          </a:p>
          <a:p>
            <a:r>
              <a:rPr lang="en-US" sz="1200" dirty="0" b="0">
                <a:latin typeface="Open Sans" pitchFamily="2" charset="0"/>
                <a:ea typeface="Open Sans" pitchFamily="2" charset="0"/>
                <a:cs typeface="Open Sans" pitchFamily="2" charset="0"/>
              </a:rPr>
              <a:t>5. How does the final line — "He pulled on his coat, stepped out into the cold morning air, and walked toward the ferry dock without looking back" — contribute to the story's ending and meaning?</a:t>
            </a:r>
          </a:p>
        </p:txBody>
      </p:sp>
    </p:spTree>
    <p:extLst>
      <p:ext uri="{BB962C8B-B14F-4D97-AF65-F5344CB8AC3E}">
        <p14:creationId xmlns:p14="http://schemas.microsoft.com/office/powerpoint/2010/main" val="2959925132"/>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1112</TotalTime>
  <Words>46</Words>
  <Application>Microsoft Office PowerPoint</Application>
  <PresentationFormat>Custom</PresentationFormat>
  <Paragraphs>100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Open Sans</vt:lpstr>
      <vt:lpstr>Arial</vt:lpstr>
      <vt:lpstr>Calibri</vt:lpstr>
      <vt:lpstr>Montserrat</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70</cp:revision>
  <dcterms:created xsi:type="dcterms:W3CDTF">2026-01-31T07:59:54Z</dcterms:created>
  <dcterms:modified xsi:type="dcterms:W3CDTF">2026-03-19T14:02:43Z</dcterms:modified>
</cp:coreProperties>
</file>