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2" r:id="rId2"/>
    <p:sldId id="263" r:id="rId3"/>
    <p:sldId id="265" r:id="rId21"/>
    <p:sldId id="264" r:id="rId4"/>
  </p:sldIdLst>
  <p:sldSz cx="7772400" cy="10058400"/>
  <p:notesSz cx="6858000" cy="9144000"/>
  <p:embeddedFontLst>
    <p:embeddedFont>
      <p:font typeface="Open Sans" pitchFamily="2" charset="0"/>
      <p:regular r:id="rId5"/>
      <p:bold r:id="rId6"/>
      <p:italic r:id="rId7"/>
      <p:boldItalic r:id="rId8"/>
    </p:embeddedFont>
    <p:embeddedFont>
      <p:font typeface="Calibri" panose="020F0502020204030204" pitchFamily="34" charset="0"/>
      <p:regular r:id="rId9"/>
      <p:bold r:id="rId10"/>
      <p:italic r:id="rId11"/>
      <p:boldItalic r:id="rId12"/>
    </p:embeddedFont>
    <p:embeddedFont>
      <p:font typeface="Montserrat" pitchFamily="2" charset="0"/>
      <p:regular r:id="rId13"/>
      <p:bold r:id="rId14"/>
      <p:italic r:id="rId15"/>
      <p:boldItalic r:id="rId16"/>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snapToGrid="0">
      <p:cViewPr>
        <p:scale>
          <a:sx n="100" d="100"/>
          <a:sy n="100" d="100"/>
        </p:scale>
        <p:origin x="762"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font" Target="fonts/font10.fntdata"/><Relationship Id="rId15" Type="http://schemas.openxmlformats.org/officeDocument/2006/relationships/font" Target="fonts/font11.fntdata"/><Relationship Id="rId16" Type="http://schemas.openxmlformats.org/officeDocument/2006/relationships/font" Target="fonts/font12.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eading_Pass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p:spPr>
        <p:txBody>
          <a:bodyPr>
            <a:normAutofit/>
          </a:bodyPr>
          <a:lstStyle>
            <a:lvl1pPr>
              <a:defRPr sz="1800" baseline="0">
                <a:solidFill>
                  <a:schemeClr val="tx2"/>
                </a:solidFill>
              </a:defRPr>
            </a:lvl1pPr>
          </a:lstStyle>
          <a:p>
            <a:r>
              <a:rPr lang="en-US" dirty="0" smtClean="0"/>
              <a:t>{{ANCHOR_READING_PASSAGE_HEADER}}</a:t>
            </a:r>
            <a:endParaRPr lang="en-US" dirty="0"/>
          </a:p>
        </p:txBody>
      </p:sp>
      <p:sp>
        <p:nvSpPr>
          <p:cNvPr id="8" name="Text Placeholder 7"/>
          <p:cNvSpPr>
            <a:spLocks noGrp="1"/>
          </p:cNvSpPr>
          <p:nvPr>
            <p:ph type="body" sz="quarter" idx="10" hasCustomPrompt="1"/>
          </p:nvPr>
        </p:nvSpPr>
        <p:spPr>
          <a:xfrm>
            <a:off x="676894" y="3475249"/>
            <a:ext cx="6417342" cy="491111"/>
          </a:xfrm>
        </p:spPr>
        <p:txBody>
          <a:bodyPr/>
          <a:lstStyle>
            <a:lvl1pPr algn="ctr">
              <a:defRPr b="1"/>
            </a:lvl1pPr>
          </a:lstStyle>
          <a:p>
            <a:pPr lvl="0"/>
            <a:r>
              <a:rPr lang="en-US" dirty="0" smtClean="0"/>
              <a:t>{{ANCHOR_READING_PASSAGE_STORY_TITLE}}</a:t>
            </a:r>
          </a:p>
          <a:p>
            <a:pPr lvl="0"/>
            <a:endParaRPr lang="en-US" dirty="0" smtClean="0"/>
          </a:p>
        </p:txBody>
      </p:sp>
      <p:sp>
        <p:nvSpPr>
          <p:cNvPr id="10" name="Text Placeholder 9"/>
          <p:cNvSpPr>
            <a:spLocks noGrp="1"/>
          </p:cNvSpPr>
          <p:nvPr>
            <p:ph type="body" sz="quarter" idx="11" hasCustomPrompt="1"/>
          </p:nvPr>
        </p:nvSpPr>
        <p:spPr>
          <a:xfrm>
            <a:off x="685165" y="1283901"/>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{{ANCHOR_READING_PASSAGE_GRADE_INFO}}</a:t>
            </a:r>
          </a:p>
        </p:txBody>
      </p:sp>
      <p:sp>
        <p:nvSpPr>
          <p:cNvPr id="12" name="Text Placeholder 11"/>
          <p:cNvSpPr>
            <a:spLocks noGrp="1"/>
          </p:cNvSpPr>
          <p:nvPr>
            <p:ph type="body" sz="quarter" idx="12" hasCustomPrompt="1"/>
          </p:nvPr>
        </p:nvSpPr>
        <p:spPr>
          <a:xfrm>
            <a:off x="685165" y="2028918"/>
            <a:ext cx="6400800" cy="626309"/>
          </a:xfrm>
        </p:spPr>
        <p:txBody>
          <a:bodyPr/>
          <a:lstStyle>
            <a:lvl1pPr>
              <a:defRPr b="0" baseline="0"/>
            </a:lvl1pPr>
          </a:lstStyle>
          <a:p>
            <a:pPr lvl="0"/>
            <a:r>
              <a:rPr lang="en-US" dirty="0" smtClean="0"/>
              <a:t>Objectives: {{ANCHOR_READING_PASSAGE_OBJECTIVES}}</a:t>
            </a:r>
            <a:endParaRPr lang="en-US" dirty="0"/>
          </a:p>
        </p:txBody>
      </p:sp>
      <p:sp>
        <p:nvSpPr>
          <p:cNvPr id="14" name="Text Placeholder 13"/>
          <p:cNvSpPr>
            <a:spLocks noGrp="1"/>
          </p:cNvSpPr>
          <p:nvPr>
            <p:ph type="body" sz="quarter" idx="13" hasCustomPrompt="1"/>
          </p:nvPr>
        </p:nvSpPr>
        <p:spPr>
          <a:xfrm>
            <a:off x="685165" y="2721691"/>
            <a:ext cx="6400800" cy="680118"/>
          </a:xfrm>
        </p:spPr>
        <p:txBody>
          <a:bodyPr/>
          <a:lstStyle>
            <a:lvl1pPr>
              <a:defRPr/>
            </a:lvl1pPr>
          </a:lstStyle>
          <a:p>
            <a:pPr lvl="0"/>
            <a:r>
              <a:rPr lang="en-US" dirty="0" smtClean="0"/>
              <a:t>Directions: {{ANCHOR_READING_PASSAGE_DIRECTIONS}}</a:t>
            </a:r>
            <a:endParaRPr lang="en-US" dirty="0"/>
          </a:p>
        </p:txBody>
      </p:sp>
      <p:sp>
        <p:nvSpPr>
          <p:cNvPr id="19" name="Text Placeholder 18"/>
          <p:cNvSpPr>
            <a:spLocks noGrp="1"/>
          </p:cNvSpPr>
          <p:nvPr>
            <p:ph type="body" sz="quarter" idx="14" hasCustomPrompt="1"/>
          </p:nvPr>
        </p:nvSpPr>
        <p:spPr>
          <a:xfrm>
            <a:off x="676894" y="4575519"/>
            <a:ext cx="6417342" cy="4758485"/>
          </a:xfrm>
        </p:spPr>
        <p:txBody>
          <a:bodyPr/>
          <a:lstStyle>
            <a:lvl1pPr>
              <a:defRPr/>
            </a:lvl1pPr>
          </a:lstStyle>
          <a:p>
            <a:pPr lvl="0"/>
            <a:r>
              <a:rPr lang="en-US" dirty="0" smtClean="0"/>
              <a:t>{{ANCHOR_READING_PASSAGE_CONTENT}}</a:t>
            </a:r>
            <a:endParaRPr lang="en-US" dirty="0"/>
          </a:p>
        </p:txBody>
      </p:sp>
      <p:cxnSp>
        <p:nvCxnSpPr>
          <p:cNvPr id="21" name="Straight Connector 20"/>
          <p:cNvCxnSpPr/>
          <p:nvPr userDrawn="1"/>
        </p:nvCxnSpPr>
        <p:spPr>
          <a:xfrm flipV="1">
            <a:off x="700609" y="193567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4068236"/>
            <a:ext cx="6417342" cy="283135"/>
          </a:xfrm>
        </p:spPr>
        <p:txBody>
          <a:bodyPr/>
          <a:lstStyle>
            <a:lvl1pPr algn="ctr">
              <a:defRPr b="0" i="0"/>
            </a:lvl1pPr>
          </a:lstStyle>
          <a:p>
            <a:pPr lvl="0"/>
            <a:r>
              <a:rPr lang="en-US" dirty="0" smtClean="0"/>
              <a:t>{{ANCHOR_READING_PASSAGE_SUBTITLE}}</a:t>
            </a:r>
          </a:p>
          <a:p>
            <a:pPr lvl="0"/>
            <a:endParaRPr lang="en-US" dirty="0" smtClean="0"/>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13" name="Text Placeholder 9"/>
          <p:cNvSpPr>
            <a:spLocks noGrp="1"/>
          </p:cNvSpPr>
          <p:nvPr>
            <p:ph type="body" sz="quarter" idx="18" hasCustomPrompt="1"/>
          </p:nvPr>
        </p:nvSpPr>
        <p:spPr>
          <a:xfrm>
            <a:off x="682815" y="1601377"/>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{{ANCHOR_READING_PASSAGE_STANDARD_INFO}}</a:t>
            </a:r>
          </a:p>
        </p:txBody>
      </p:sp>
    </p:spTree>
    <p:extLst>
      <p:ext uri="{BB962C8B-B14F-4D97-AF65-F5344CB8AC3E}">
        <p14:creationId xmlns:p14="http://schemas.microsoft.com/office/powerpoint/2010/main" val="151574857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13704215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01891874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4"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165" y="804543"/>
            <a:ext cx="6409071" cy="369332"/>
          </a:xfrm>
          <a:prstGeom prst="rect">
            <a:avLst/>
          </a:prstGeom>
          <a:noFill/>
        </p:spPr>
        <p:txBody>
          <a:bodyPr wrap="square" rtlCol="0">
            <a:spAutoFit/>
          </a:bodyPr>
          <a:lstStyle/>
          <a:p>
            <a:r>
              <a:rPr lang="en-US" sz="1800" b="1" dirty="0">
                <a:solidFill>
                  <a:schemeClr val="accent5">
                    <a:lumMod val="50000"/>
                  </a:schemeClr>
                </a:solidFill>
                <a:latin typeface="Montserrat" pitchFamily="2" charset="0"/>
              </a:rPr>
              <a:t>The Last Lighthouse Keeper</a:t>
            </a:r>
          </a:p>
        </p:txBody>
      </p:sp>
      <p:sp>
        <p:nvSpPr>
          <p:cNvPr id="3" name="TextBox 2"/>
          <p:cNvSpPr txBox="1"/>
          <p:nvPr/>
        </p:nvSpPr>
        <p:spPr>
          <a:xfrm>
            <a:off x="676893" y="1209571"/>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6TH GRADE RL.6.10 LITERARY TEXT RANGE BUNDLE</a:t>
            </a:r>
          </a:p>
        </p:txBody>
      </p:sp>
      <p:sp>
        <p:nvSpPr>
          <p:cNvPr id="20" name="TextBox 19"/>
          <p:cNvSpPr txBox="1"/>
          <p:nvPr/>
        </p:nvSpPr>
        <p:spPr>
          <a:xfrm>
            <a:off x="676892" y="1563794"/>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Explore Complex Texts | Analyze Story Elements | Build Reading Stamin</a:t>
            </a:r>
          </a:p>
        </p:txBody>
      </p:sp>
      <p:sp>
        <p:nvSpPr>
          <p:cNvPr id="4" name="TextBox 3"/>
          <p:cNvSpPr txBox="1"/>
          <p:nvPr/>
        </p:nvSpPr>
        <p:spPr>
          <a:xfrm>
            <a:off x="685164" y="2028918"/>
            <a:ext cx="6409071"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Objectives:</a:t>
            </a:r>
            <a:r>
              <a:rPr lang="en-US" sz="1200" dirty="0" b="0">
                <a:latin typeface="Open Sans" pitchFamily="2" charset="0"/>
                <a:ea typeface="Open Sans" pitchFamily="2" charset="0"/>
                <a:cs typeface="Open Sans" pitchFamily="2" charset="0"/>
              </a:rPr>
              <a:t> • Read and comprehend literary text at the grades 6–8 complexity band</a:t>
            </a:r>
          </a:p>
          <a:p>
            <a:r>
              <a:rPr lang="en-US" sz="1200" dirty="0" b="0">
                <a:latin typeface="Open Sans" pitchFamily="2" charset="0"/>
                <a:ea typeface="Open Sans" pitchFamily="2" charset="0"/>
                <a:cs typeface="Open Sans" pitchFamily="2" charset="0"/>
              </a:rPr>
              <a:t>• Demonstrate understanding of character, setting, and theme in fiction</a:t>
            </a:r>
          </a:p>
        </p:txBody>
      </p:sp>
      <p:sp>
        <p:nvSpPr>
          <p:cNvPr id="22" name="TextBox 21"/>
          <p:cNvSpPr txBox="1"/>
          <p:nvPr/>
        </p:nvSpPr>
        <p:spPr>
          <a:xfrm>
            <a:off x="685164" y="2748689"/>
            <a:ext cx="6398449"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Directions:</a:t>
            </a:r>
            <a:r>
              <a:rPr lang="en-US" sz="1200" dirty="0" b="0">
                <a:latin typeface="Open Sans" pitchFamily="2" charset="0"/>
                <a:ea typeface="Open Sans" pitchFamily="2" charset="0"/>
                <a:cs typeface="Open Sans" pitchFamily="2" charset="0"/>
              </a:rPr>
              <a:t> Read the passage carefully, paying attention to the characters and setting. Then respond to the discussion questions that follow.</a:t>
            </a:r>
          </a:p>
        </p:txBody>
      </p:sp>
      <p:sp>
        <p:nvSpPr>
          <p:cNvPr id="23" name="TextBox 22"/>
          <p:cNvSpPr txBox="1"/>
          <p:nvPr/>
        </p:nvSpPr>
        <p:spPr>
          <a:xfrm>
            <a:off x="685165" y="3517041"/>
            <a:ext cx="6398448" cy="461665"/>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The Last Lighthouse Keeper</a:t>
            </a:r>
          </a:p>
        </p:txBody>
      </p:sp>
      <p:sp>
        <p:nvSpPr>
          <p:cNvPr id="24" name="TextBox 23"/>
          <p:cNvSpPr txBox="1"/>
          <p:nvPr/>
        </p:nvSpPr>
        <p:spPr>
          <a:xfrm>
            <a:off x="685163" y="4013151"/>
            <a:ext cx="6398449" cy="27699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Facing change requires courage, even when holding on feels safer.</a:t>
            </a:r>
          </a:p>
        </p:txBody>
      </p:sp>
      <p:sp>
        <p:nvSpPr>
          <p:cNvPr id="25" name="TextBox 24"/>
          <p:cNvSpPr txBox="1"/>
          <p:nvPr/>
        </p:nvSpPr>
        <p:spPr>
          <a:xfrm>
            <a:off x="676892" y="4659898"/>
            <a:ext cx="6406719" cy="470898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About This Passage:</a:t>
            </a:r>
          </a:p>
          <a:p>
            <a:r>
              <a:rPr lang="en-US" sz="1200" dirty="0" b="0">
                <a:latin typeface="Open Sans" pitchFamily="2" charset="0"/>
                <a:ea typeface="Open Sans" pitchFamily="2" charset="0"/>
                <a:cs typeface="Open Sans" pitchFamily="2" charset="0"/>
              </a:rPr>
              <a:t>This short story is set on a rocky island off the coast of Maine in the early 1990s, just as automated lighthouse systems began replacing human keepers. It follows twelve-year-old Mara, who spends her last summer on the island with her grandfather before his job—and their shared world—disappears forever. The story explores themes of change, memory, and the bonds between generations.</a:t>
            </a:r>
          </a:p>
          <a:p/>
          <a:p>
            <a:r>
              <a:rPr lang="en-US" sz="1200" dirty="0" b="1">
                <a:latin typeface="Open Sans" pitchFamily="2" charset="0"/>
                <a:ea typeface="Open Sans" pitchFamily="2" charset="0"/>
                <a:cs typeface="Open Sans" pitchFamily="2" charset="0"/>
              </a:rPr>
              <a:t>Key Vocabulary:</a:t>
            </a:r>
          </a:p>
          <a:p>
            <a:r>
              <a:rPr lang="en-US" sz="1200" dirty="0" b="0">
                <a:latin typeface="Open Sans" pitchFamily="2" charset="0"/>
                <a:ea typeface="Open Sans" pitchFamily="2" charset="0"/>
                <a:cs typeface="Open Sans" pitchFamily="2" charset="0"/>
              </a:rPr>
              <a:t>• Keeper: a person responsible for maintaining and operating a lighthouse</a:t>
            </a:r>
          </a:p>
          <a:p>
            <a:r>
              <a:rPr lang="en-US" sz="1200" dirty="0" b="0">
                <a:latin typeface="Open Sans" pitchFamily="2" charset="0"/>
                <a:ea typeface="Open Sans" pitchFamily="2" charset="0"/>
                <a:cs typeface="Open Sans" pitchFamily="2" charset="0"/>
              </a:rPr>
              <a:t>• Automated: operated by machines rather than people, without human control</a:t>
            </a:r>
          </a:p>
          <a:p>
            <a:r>
              <a:rPr lang="en-US" sz="1200" dirty="0" b="0">
                <a:latin typeface="Open Sans" pitchFamily="2" charset="0"/>
                <a:ea typeface="Open Sans" pitchFamily="2" charset="0"/>
                <a:cs typeface="Open Sans" pitchFamily="2" charset="0"/>
              </a:rPr>
              <a:t>• Vigil: a period of staying awake to watch over something carefully</a:t>
            </a:r>
          </a:p>
          <a:p>
            <a:r>
              <a:rPr lang="en-US" sz="1200" dirty="0" b="0">
                <a:latin typeface="Open Sans" pitchFamily="2" charset="0"/>
                <a:ea typeface="Open Sans" pitchFamily="2" charset="0"/>
                <a:cs typeface="Open Sans" pitchFamily="2" charset="0"/>
              </a:rPr>
              <a:t>• Tidal: relating to the rise and fall of the sea caused by the moon's gravitational pull</a:t>
            </a:r>
          </a:p>
          <a:p>
            <a:r>
              <a:rPr lang="en-US" sz="1200" dirty="0" b="0">
                <a:latin typeface="Open Sans" pitchFamily="2" charset="0"/>
                <a:ea typeface="Open Sans" pitchFamily="2" charset="0"/>
                <a:cs typeface="Open Sans" pitchFamily="2" charset="0"/>
              </a:rPr>
              <a:t>• Melancholy: a feeling of deep, quiet sadness that lingers over time</a:t>
            </a:r>
          </a:p>
        </p:txBody>
      </p:sp>
      <p:sp>
        <p:nvSpPr>
          <p:cNvPr id="26" name="TextBox 25"/>
          <p:cNvSpPr txBox="1"/>
          <p:nvPr/>
        </p:nvSpPr>
        <p:spPr>
          <a:xfrm>
            <a:off x="190730" y="214565"/>
            <a:ext cx="4557540"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27" name="TextBox 26"/>
          <p:cNvSpPr txBox="1"/>
          <p:nvPr/>
        </p:nvSpPr>
        <p:spPr>
          <a:xfrm>
            <a:off x="4910904" y="214565"/>
            <a:ext cx="2609917"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32199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The Last Lighthouse Keeper</a:t>
            </a:r>
          </a:p>
          <a:p>
            <a:r>
              <a:rPr lang="en-US" sz="1200" dirty="0" b="0">
                <a:latin typeface="Open Sans" pitchFamily="2" charset="0"/>
                <a:ea typeface="Open Sans" pitchFamily="2" charset="0"/>
                <a:cs typeface="Open Sans" pitchFamily="2" charset="0"/>
              </a:rPr>
              <a:t>The beam swept across the water every four seconds, as it had for sixty years. Mara counted the rotations from her cot, listening to the fog horn moan and the waves crash against the granite base far below. This was her favorite sound in the world, and in three weeks, she would never hear it again.</a:t>
            </a:r>
          </a:p>
          <a:p>
            <a:r>
              <a:rPr lang="en-US" sz="1200" dirty="0" b="0">
                <a:latin typeface="Open Sans" pitchFamily="2" charset="0"/>
                <a:ea typeface="Open Sans" pitchFamily="2" charset="0"/>
                <a:cs typeface="Open Sans" pitchFamily="2" charset="0"/>
              </a:rPr>
              <a:t>Her grandfather, Ezra, had been keeper of Pelican Point Light since before her mother was born. He knew every crack in the tower's stone walls, every rusted hinge, every star visible from the lantern room on a clear August night. He had recorded storms, ships, and seasons in a logbook so worn that its cover had turned the color of driftwood.</a:t>
            </a:r>
          </a:p>
          <a:p>
            <a:r>
              <a:rPr lang="en-US" sz="1200" dirty="0" b="0">
                <a:latin typeface="Open Sans" pitchFamily="2" charset="0"/>
                <a:ea typeface="Open Sans" pitchFamily="2" charset="0"/>
                <a:cs typeface="Open Sans" pitchFamily="2" charset="0"/>
              </a:rPr>
              <a:t>"You should sleep," Ezra said from the doorway. His voice was low and steady, like the horn itself.</a:t>
            </a:r>
          </a:p>
          <a:p>
            <a:r>
              <a:rPr lang="en-US" sz="1200" dirty="0" b="0">
                <a:latin typeface="Open Sans" pitchFamily="2" charset="0"/>
                <a:ea typeface="Open Sans" pitchFamily="2" charset="0"/>
                <a:cs typeface="Open Sans" pitchFamily="2" charset="0"/>
              </a:rPr>
              <a:t>"I'm counting," Mara answered.</a:t>
            </a:r>
          </a:p>
          <a:p>
            <a:r>
              <a:rPr lang="en-US" sz="1200" dirty="0" b="0">
                <a:latin typeface="Open Sans" pitchFamily="2" charset="0"/>
                <a:ea typeface="Open Sans" pitchFamily="2" charset="0"/>
                <a:cs typeface="Open Sans" pitchFamily="2" charset="0"/>
              </a:rPr>
              <a:t>He came in and sat on the edge of her cot without asking why. That was something she loved about him. He never needed everything explained.</a:t>
            </a:r>
          </a:p>
          <a:p>
            <a:r>
              <a:rPr lang="en-US" sz="1200" dirty="0" b="0">
                <a:latin typeface="Open Sans" pitchFamily="2" charset="0"/>
                <a:ea typeface="Open Sans" pitchFamily="2" charset="0"/>
                <a:cs typeface="Open Sans" pitchFamily="2" charset="0"/>
              </a:rPr>
              <a:t>"The new system goes in next month," he said after a while. "Solar-powered. Motion sensors. No one has to be here at all."</a:t>
            </a:r>
          </a:p>
          <a:p>
            <a:r>
              <a:rPr lang="en-US" sz="1200" dirty="0" b="0">
                <a:latin typeface="Open Sans" pitchFamily="2" charset="0"/>
                <a:ea typeface="Open Sans" pitchFamily="2" charset="0"/>
                <a:cs typeface="Open Sans" pitchFamily="2" charset="0"/>
              </a:rPr>
              <a:t>"I know."</a:t>
            </a:r>
          </a:p>
          <a:p>
            <a:r>
              <a:rPr lang="en-US" sz="1200" dirty="0" b="0">
                <a:latin typeface="Open Sans" pitchFamily="2" charset="0"/>
                <a:ea typeface="Open Sans" pitchFamily="2" charset="0"/>
                <a:cs typeface="Open Sans" pitchFamily="2" charset="0"/>
              </a:rPr>
              <a:t>"It'll keep ships just as safe."</a:t>
            </a:r>
          </a:p>
          <a:p>
            <a:r>
              <a:rPr lang="en-US" sz="1200" dirty="0" b="0">
                <a:latin typeface="Open Sans" pitchFamily="2" charset="0"/>
                <a:ea typeface="Open Sans" pitchFamily="2" charset="0"/>
                <a:cs typeface="Open Sans" pitchFamily="2" charset="0"/>
              </a:rPr>
              <a:t>"I know that too." Mara stared at the ceiling. "But who will write the logbook?"</a:t>
            </a:r>
          </a:p>
          <a:p>
            <a:r>
              <a:rPr lang="en-US" sz="1200" dirty="0" b="0">
                <a:latin typeface="Open Sans" pitchFamily="2" charset="0"/>
                <a:ea typeface="Open Sans" pitchFamily="2" charset="0"/>
                <a:cs typeface="Open Sans" pitchFamily="2" charset="0"/>
              </a:rPr>
              <a:t>Ezra was quiet for a long moment. Outside, the beam completed another sweep. Four seconds. Four seconds. Four seconds.</a:t>
            </a:r>
          </a:p>
        </p:txBody>
      </p:sp>
    </p:spTree>
    <p:extLst>
      <p:ext uri="{BB962C8B-B14F-4D97-AF65-F5344CB8AC3E}">
        <p14:creationId xmlns:p14="http://schemas.microsoft.com/office/powerpoint/2010/main" val="120183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Discussion Questions:</a:t>
            </a:r>
          </a:p>
          <a:p>
            <a:r>
              <a:rPr lang="en-US" sz="1200" dirty="0" b="0">
                <a:latin typeface="Open Sans" pitchFamily="2" charset="0"/>
                <a:ea typeface="Open Sans" pitchFamily="2" charset="0"/>
                <a:cs typeface="Open Sans" pitchFamily="2" charset="0"/>
              </a:rPr>
              <a:t>1. How does the setting of a lighthouse on a remote island contribute to the mood of this story? Use at least two details from the text to support your answer.</a:t>
            </a:r>
          </a:p>
          <a:p>
            <a:r>
              <a:rPr lang="en-US" sz="1200" dirty="0" b="0">
                <a:latin typeface="Open Sans" pitchFamily="2" charset="0"/>
                <a:ea typeface="Open Sans" pitchFamily="2" charset="0"/>
                <a:cs typeface="Open Sans" pitchFamily="2" charset="0"/>
              </a:rPr>
              <a:t>2. What does Mara's decision to start her own logbook reveal about her character? What does this action suggest about how she is coping with change?</a:t>
            </a:r>
          </a:p>
          <a:p>
            <a:r>
              <a:rPr lang="en-US" sz="1200" dirty="0" b="0">
                <a:latin typeface="Open Sans" pitchFamily="2" charset="0"/>
                <a:ea typeface="Open Sans" pitchFamily="2" charset="0"/>
                <a:cs typeface="Open Sans" pitchFamily="2" charset="0"/>
              </a:rPr>
              <a:t>3. Reread the line: "The word sat between them like a stone dropped into still water." What does this figurative language mean, and why does the author use it at that moment in the story?</a:t>
            </a:r>
          </a:p>
          <a:p>
            <a:r>
              <a:rPr lang="en-US" sz="1200" dirty="0" b="0">
                <a:latin typeface="Open Sans" pitchFamily="2" charset="0"/>
                <a:ea typeface="Open Sans" pitchFamily="2" charset="0"/>
                <a:cs typeface="Open Sans" pitchFamily="2" charset="0"/>
              </a:rPr>
              <a:t>4. What is the central theme of this passage? Explain how both Mara and Ezra's actions by the end of the story reflect that theme.</a:t>
            </a:r>
          </a:p>
          <a:p>
            <a:r>
              <a:rPr lang="en-US" sz="1200" dirty="0" b="0">
                <a:latin typeface="Open Sans" pitchFamily="2" charset="0"/>
                <a:ea typeface="Open Sans" pitchFamily="2" charset="0"/>
                <a:cs typeface="Open Sans" pitchFamily="2" charset="0"/>
              </a:rPr>
              <a:t>5. How does the author use the repeated phrase "Four seconds" throughout the story? What effect does this repetition create for the reader?</a:t>
            </a:r>
          </a:p>
        </p:txBody>
      </p:sp>
    </p:spTree>
    <p:extLst>
      <p:ext uri="{BB962C8B-B14F-4D97-AF65-F5344CB8AC3E}">
        <p14:creationId xmlns:p14="http://schemas.microsoft.com/office/powerpoint/2010/main" val="2959925132"/>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The Last Lighthouse Keeper</a:t>
            </a:r>
          </a:p>
          <a:p>
            <a:r>
              <a:rPr lang="en-US" sz="1200" dirty="0" b="0">
                <a:latin typeface="Open Sans" pitchFamily="2" charset="0"/>
                <a:ea typeface="Open Sans" pitchFamily="2" charset="0"/>
                <a:cs typeface="Open Sans" pitchFamily="2" charset="0"/>
              </a:rPr>
              <a:t>The beam swept across the water every four seconds, as it had for sixty years. Mara counted the rotations from her cot, listening to the fog horn moan and the waves crash against the granite base far below. This was her favorite sound in the world, and in three weeks, she would never hear it again.</a:t>
            </a:r>
          </a:p>
          <a:p>
            <a:r>
              <a:rPr lang="en-US" sz="1200" dirty="0" b="0">
                <a:latin typeface="Open Sans" pitchFamily="2" charset="0"/>
                <a:ea typeface="Open Sans" pitchFamily="2" charset="0"/>
                <a:cs typeface="Open Sans" pitchFamily="2" charset="0"/>
              </a:rPr>
              <a:t>Her grandfather, Ezra, had been keeper of Pelican Point Light since before her mother was born. He knew every crack in the tower's stone walls, every rusted hinge, every star visible from the lantern room on a clear August night. He had recorded storms, ships, and seasons in a logbook so worn that its cover had turned the color of driftwood.</a:t>
            </a:r>
          </a:p>
          <a:p>
            <a:r>
              <a:rPr lang="en-US" sz="1200" dirty="0" b="0">
                <a:latin typeface="Open Sans" pitchFamily="2" charset="0"/>
                <a:ea typeface="Open Sans" pitchFamily="2" charset="0"/>
                <a:cs typeface="Open Sans" pitchFamily="2" charset="0"/>
              </a:rPr>
              <a:t>"You should sleep," Ezra said from the doorway. His voice was low and steady, like the horn itself.</a:t>
            </a:r>
          </a:p>
          <a:p>
            <a:r>
              <a:rPr lang="en-US" sz="1200" dirty="0" b="0">
                <a:latin typeface="Open Sans" pitchFamily="2" charset="0"/>
                <a:ea typeface="Open Sans" pitchFamily="2" charset="0"/>
                <a:cs typeface="Open Sans" pitchFamily="2" charset="0"/>
              </a:rPr>
              <a:t>"I'm counting," Mara answered.</a:t>
            </a:r>
          </a:p>
          <a:p>
            <a:r>
              <a:rPr lang="en-US" sz="1200" dirty="0" b="0">
                <a:latin typeface="Open Sans" pitchFamily="2" charset="0"/>
                <a:ea typeface="Open Sans" pitchFamily="2" charset="0"/>
                <a:cs typeface="Open Sans" pitchFamily="2" charset="0"/>
              </a:rPr>
              <a:t>He came in and sat on the edge of her cot without asking why. That was something she loved about him. He never needed everything explained.</a:t>
            </a:r>
          </a:p>
          <a:p>
            <a:r>
              <a:rPr lang="en-US" sz="1200" dirty="0" b="0">
                <a:latin typeface="Open Sans" pitchFamily="2" charset="0"/>
                <a:ea typeface="Open Sans" pitchFamily="2" charset="0"/>
                <a:cs typeface="Open Sans" pitchFamily="2" charset="0"/>
              </a:rPr>
              <a:t>"The new system goes in next month," he said after a while. "Solar-powered. Motion sensors. No one has to be here at all."</a:t>
            </a:r>
          </a:p>
          <a:p>
            <a:r>
              <a:rPr lang="en-US" sz="1200" dirty="0" b="0">
                <a:latin typeface="Open Sans" pitchFamily="2" charset="0"/>
                <a:ea typeface="Open Sans" pitchFamily="2" charset="0"/>
                <a:cs typeface="Open Sans" pitchFamily="2" charset="0"/>
              </a:rPr>
              <a:t>"I know."</a:t>
            </a:r>
          </a:p>
          <a:p>
            <a:r>
              <a:rPr lang="en-US" sz="1200" dirty="0" b="0">
                <a:latin typeface="Open Sans" pitchFamily="2" charset="0"/>
                <a:ea typeface="Open Sans" pitchFamily="2" charset="0"/>
                <a:cs typeface="Open Sans" pitchFamily="2" charset="0"/>
              </a:rPr>
              <a:t>"It'll keep ships just as safe."</a:t>
            </a:r>
          </a:p>
          <a:p>
            <a:r>
              <a:rPr lang="en-US" sz="1200" dirty="0" b="0">
                <a:latin typeface="Open Sans" pitchFamily="2" charset="0"/>
                <a:ea typeface="Open Sans" pitchFamily="2" charset="0"/>
                <a:cs typeface="Open Sans" pitchFamily="2" charset="0"/>
              </a:rPr>
              <a:t>"I know that too." Mara stared at the ceiling. "But who will write the logbook?"</a:t>
            </a:r>
          </a:p>
          <a:p>
            <a:r>
              <a:rPr lang="en-US" sz="1200" dirty="0" b="0">
                <a:latin typeface="Open Sans" pitchFamily="2" charset="0"/>
                <a:ea typeface="Open Sans" pitchFamily="2" charset="0"/>
                <a:cs typeface="Open Sans" pitchFamily="2" charset="0"/>
              </a:rPr>
              <a:t>Ezra was quiet for a long moment. Outside, the beam completed another sweep. Four seconds. Four seconds. Four seconds.</a:t>
            </a:r>
          </a:p>
        </p:txBody>
      </p:sp>
    </p:spTree>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1112</TotalTime>
  <Words>46</Words>
  <Application>Microsoft Office PowerPoint</Application>
  <PresentationFormat>Custom</PresentationFormat>
  <Paragraphs>100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Open Sans</vt:lpstr>
      <vt:lpstr>Arial</vt:lpstr>
      <vt:lpstr>Calibri</vt:lpstr>
      <vt:lpstr>Montserrat</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70</cp:revision>
  <dcterms:created xsi:type="dcterms:W3CDTF">2026-01-31T07:59:54Z</dcterms:created>
  <dcterms:modified xsi:type="dcterms:W3CDTF">2026-03-19T14:02:43Z</dcterms:modified>
</cp:coreProperties>
</file>